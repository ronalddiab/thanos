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9" r:id="rId5"/>
    <p:sldId id="260" r:id="rId6"/>
    <p:sldId id="258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86ADF3-8AB2-4E38-823D-A814DD1E012C}" v="1305" dt="2022-03-03T18:32:04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Hoffman" userId="80031377-f167-4aa9-bab7-5c8d17cf86f1" providerId="ADAL" clId="{A386ADF3-8AB2-4E38-823D-A814DD1E012C}"/>
    <pc:docChg chg="undo custSel modSld">
      <pc:chgData name="Matthew Hoffman" userId="80031377-f167-4aa9-bab7-5c8d17cf86f1" providerId="ADAL" clId="{A386ADF3-8AB2-4E38-823D-A814DD1E012C}" dt="2022-03-03T18:32:04.964" v="1231" actId="20577"/>
      <pc:docMkLst>
        <pc:docMk/>
      </pc:docMkLst>
      <pc:sldChg chg="modSp">
        <pc:chgData name="Matthew Hoffman" userId="80031377-f167-4aa9-bab7-5c8d17cf86f1" providerId="ADAL" clId="{A386ADF3-8AB2-4E38-823D-A814DD1E012C}" dt="2022-03-03T18:32:04.964" v="1231" actId="20577"/>
        <pc:sldMkLst>
          <pc:docMk/>
          <pc:sldMk cId="2699172886" sldId="259"/>
        </pc:sldMkLst>
        <pc:graphicFrameChg chg="modGraphic">
          <ac:chgData name="Matthew Hoffman" userId="80031377-f167-4aa9-bab7-5c8d17cf86f1" providerId="ADAL" clId="{A386ADF3-8AB2-4E38-823D-A814DD1E012C}" dt="2022-03-03T16:27:07.667" v="579" actId="14100"/>
          <ac:graphicFrameMkLst>
            <pc:docMk/>
            <pc:sldMk cId="2699172886" sldId="259"/>
            <ac:graphicFrameMk id="5" creationId="{00000000-0000-0000-0000-000000000000}"/>
          </ac:graphicFrameMkLst>
        </pc:graphicFrameChg>
        <pc:graphicFrameChg chg="mod modGraphic">
          <ac:chgData name="Matthew Hoffman" userId="80031377-f167-4aa9-bab7-5c8d17cf86f1" providerId="ADAL" clId="{A386ADF3-8AB2-4E38-823D-A814DD1E012C}" dt="2022-03-03T17:21:15.948" v="881" actId="20577"/>
          <ac:graphicFrameMkLst>
            <pc:docMk/>
            <pc:sldMk cId="2699172886" sldId="259"/>
            <ac:graphicFrameMk id="7" creationId="{00000000-0000-0000-0000-000000000000}"/>
          </ac:graphicFrameMkLst>
        </pc:graphicFrameChg>
        <pc:graphicFrameChg chg="mod modGraphic">
          <ac:chgData name="Matthew Hoffman" userId="80031377-f167-4aa9-bab7-5c8d17cf86f1" providerId="ADAL" clId="{A386ADF3-8AB2-4E38-823D-A814DD1E012C}" dt="2022-03-03T18:30:47.068" v="1196" actId="313"/>
          <ac:graphicFrameMkLst>
            <pc:docMk/>
            <pc:sldMk cId="2699172886" sldId="259"/>
            <ac:graphicFrameMk id="8" creationId="{00000000-0000-0000-0000-000000000000}"/>
          </ac:graphicFrameMkLst>
        </pc:graphicFrameChg>
        <pc:graphicFrameChg chg="mod modGraphic">
          <ac:chgData name="Matthew Hoffman" userId="80031377-f167-4aa9-bab7-5c8d17cf86f1" providerId="ADAL" clId="{A386ADF3-8AB2-4E38-823D-A814DD1E012C}" dt="2022-03-03T18:32:04.964" v="1231" actId="20577"/>
          <ac:graphicFrameMkLst>
            <pc:docMk/>
            <pc:sldMk cId="2699172886" sldId="259"/>
            <ac:graphicFrameMk id="13" creationId="{00000000-0000-0000-0000-000000000000}"/>
          </ac:graphicFrameMkLst>
        </pc:graphicFrameChg>
      </pc:sldChg>
    </pc:docChg>
  </pc:docChgLst>
  <pc:docChgLst>
    <pc:chgData name="Matthew Hoffman" userId="80031377-f167-4aa9-bab7-5c8d17cf86f1" providerId="ADAL" clId="{B73B1D4A-8200-4FEE-AE1E-41629D84C365}"/>
    <pc:docChg chg="undo custSel modSld">
      <pc:chgData name="Matthew Hoffman" userId="80031377-f167-4aa9-bab7-5c8d17cf86f1" providerId="ADAL" clId="{B73B1D4A-8200-4FEE-AE1E-41629D84C365}" dt="2022-03-02T00:42:04.538" v="70" actId="400"/>
      <pc:docMkLst>
        <pc:docMk/>
      </pc:docMkLst>
      <pc:sldChg chg="modSp">
        <pc:chgData name="Matthew Hoffman" userId="80031377-f167-4aa9-bab7-5c8d17cf86f1" providerId="ADAL" clId="{B73B1D4A-8200-4FEE-AE1E-41629D84C365}" dt="2022-03-02T00:42:04.538" v="70" actId="400"/>
        <pc:sldMkLst>
          <pc:docMk/>
          <pc:sldMk cId="2699172886" sldId="259"/>
        </pc:sldMkLst>
        <pc:spChg chg="mod">
          <ac:chgData name="Matthew Hoffman" userId="80031377-f167-4aa9-bab7-5c8d17cf86f1" providerId="ADAL" clId="{B73B1D4A-8200-4FEE-AE1E-41629D84C365}" dt="2022-03-02T00:40:10.541" v="34" actId="20577"/>
          <ac:spMkLst>
            <pc:docMk/>
            <pc:sldMk cId="2699172886" sldId="259"/>
            <ac:spMk id="43009" creationId="{00000000-0000-0000-0000-000000000000}"/>
          </ac:spMkLst>
        </pc:spChg>
        <pc:graphicFrameChg chg="modGraphic">
          <ac:chgData name="Matthew Hoffman" userId="80031377-f167-4aa9-bab7-5c8d17cf86f1" providerId="ADAL" clId="{B73B1D4A-8200-4FEE-AE1E-41629D84C365}" dt="2022-03-02T00:40:37.435" v="45" actId="400"/>
          <ac:graphicFrameMkLst>
            <pc:docMk/>
            <pc:sldMk cId="2699172886" sldId="259"/>
            <ac:graphicFrameMk id="7" creationId="{00000000-0000-0000-0000-000000000000}"/>
          </ac:graphicFrameMkLst>
        </pc:graphicFrameChg>
        <pc:graphicFrameChg chg="modGraphic">
          <ac:chgData name="Matthew Hoffman" userId="80031377-f167-4aa9-bab7-5c8d17cf86f1" providerId="ADAL" clId="{B73B1D4A-8200-4FEE-AE1E-41629D84C365}" dt="2022-03-02T00:42:04.538" v="70" actId="400"/>
          <ac:graphicFrameMkLst>
            <pc:docMk/>
            <pc:sldMk cId="2699172886" sldId="259"/>
            <ac:graphicFrameMk id="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3FCFEE6-53CB-43E6-BE81-5255CC5ACB06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6ABCF1D-80A9-4FB3-8A1C-A05C025D7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4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33446" indent="-282095"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8377" indent="-225676"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9729" indent="-225676"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31080" indent="-225676"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82431" indent="-225676" defTabSz="93091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33783" indent="-225676" defTabSz="93091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85133" indent="-225676" defTabSz="93091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36485" indent="-225676" defTabSz="93091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8FAA45A-E688-8446-B9CA-D97078DAF030}" type="slidenum">
              <a:rPr lang="en-US" sz="1200">
                <a:latin typeface="Times New Roman" charset="0"/>
              </a:rPr>
              <a:pPr/>
              <a:t>1</a:t>
            </a:fld>
            <a:endParaRPr lang="en-US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493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33446" indent="-282095"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8377" indent="-225676"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9729" indent="-225676"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31080" indent="-225676" defTabSz="930912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82431" indent="-225676" defTabSz="93091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33783" indent="-225676" defTabSz="93091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85133" indent="-225676" defTabSz="93091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36485" indent="-225676" defTabSz="93091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8FAA45A-E688-8446-B9CA-D97078DAF030}" type="slidenum">
              <a:rPr lang="en-US" sz="1200">
                <a:latin typeface="Times New Roman" charset="0"/>
              </a:rPr>
              <a:pPr/>
              <a:t>2</a:t>
            </a:fld>
            <a:endParaRPr lang="en-US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782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49" name="Slide Number Placeholder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7066" indent="-291179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4717" indent="-232943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30604" indent="-232943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96491" indent="-232943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365609C-5FAC-1A45-A5DD-8D4E21A434E3}" type="slidenum">
              <a:rPr lang="en-US" sz="1200">
                <a:latin typeface="Times New Roman" charset="0"/>
              </a:rPr>
              <a:pPr/>
              <a:t>3</a:t>
            </a:fld>
            <a:endParaRPr lang="en-US" sz="1200">
              <a:latin typeface="Times New Roman" charset="0"/>
            </a:endParaRPr>
          </a:p>
        </p:txBody>
      </p:sp>
      <p:sp>
        <p:nvSpPr>
          <p:cNvPr id="616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696913"/>
            <a:ext cx="6199187" cy="3487737"/>
          </a:xfrm>
          <a:ln/>
        </p:spPr>
      </p:sp>
      <p:sp>
        <p:nvSpPr>
          <p:cNvPr id="616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2995" tIns="46498" rIns="92995" bIns="46498"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616452" name="Slide Number Placeholder 3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995" tIns="46498" rIns="92995" bIns="46498" anchor="b"/>
          <a:lstStyle>
            <a:lvl1pPr defTabSz="9112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112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112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112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112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fld id="{32D24F19-67D9-D547-A4DC-622FBA9A92AE}" type="slidenum">
              <a:rPr lang="en-US" sz="1200"/>
              <a:pPr algn="r"/>
              <a:t>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09746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03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5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91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6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4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9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2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34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32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5973B-FA82-4E2F-AB5E-0CF7C341DF87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CA103-5C00-4EF8-87B6-68762728F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9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3"/>
          <p:cNvSpPr>
            <a:spLocks noGrp="1"/>
          </p:cNvSpPr>
          <p:nvPr>
            <p:ph type="title"/>
          </p:nvPr>
        </p:nvSpPr>
        <p:spPr>
          <a:xfrm>
            <a:off x="354335" y="22405"/>
            <a:ext cx="10703705" cy="85156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dirty="0">
                <a:latin typeface="Century Gothic" panose="020B0502020202020204" pitchFamily="34" charset="0"/>
              </a:rPr>
              <a:t>Four Seasons Private Residences at 706 Mission</a:t>
            </a:r>
            <a:br>
              <a:rPr lang="en-US" sz="2800" dirty="0">
                <a:latin typeface="Century Gothic" panose="020B0502020202020204" pitchFamily="34" charset="0"/>
              </a:rPr>
            </a:br>
            <a:r>
              <a:rPr lang="en-US" sz="2800" dirty="0">
                <a:latin typeface="Century Gothic" panose="020B0502020202020204" pitchFamily="34" charset="0"/>
              </a:rPr>
              <a:t>2022 VSPT Strategy</a:t>
            </a:r>
            <a:endParaRPr lang="en-US" sz="28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900797"/>
              </p:ext>
            </p:extLst>
          </p:nvPr>
        </p:nvGraphicFramePr>
        <p:xfrm>
          <a:off x="354336" y="1327229"/>
          <a:ext cx="2188841" cy="4508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08426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innovate new experiences of luxury &amp; lifestyle that inspire a deeper connection with the city, our neighbors and family.  Four Seasons Private Residences at 706 Mission, will provide Home Owners intuitive service so experiences become traditions.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852914"/>
              </p:ext>
            </p:extLst>
          </p:nvPr>
        </p:nvGraphicFramePr>
        <p:xfrm>
          <a:off x="2584398" y="1347267"/>
          <a:ext cx="2188841" cy="447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5251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en-US" sz="1000" b="0" i="1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endParaRPr lang="en-US" sz="1400" b="0" i="1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Expand our employee experience of diversity, inclusion, and belonging (DIB)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92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6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Enhance training &amp; create engaging development programs</a:t>
                      </a:r>
                    </a:p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403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endParaRPr lang="en-US" sz="10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endParaRPr lang="en-US" sz="10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Resident experience</a:t>
                      </a:r>
                      <a:endParaRPr lang="en-US" sz="1400" b="0" i="1" dirty="0">
                        <a:solidFill>
                          <a:srgbClr val="C0C0C0"/>
                        </a:solidFill>
                      </a:endParaRPr>
                    </a:p>
                    <a:p>
                      <a:endParaRPr lang="en-US" sz="1400" b="0" i="1" dirty="0">
                        <a:solidFill>
                          <a:srgbClr val="C0C0C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910381"/>
              </p:ext>
            </p:extLst>
          </p:nvPr>
        </p:nvGraphicFramePr>
        <p:xfrm>
          <a:off x="4814460" y="1335634"/>
          <a:ext cx="2848017" cy="4500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159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400" b="0" i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Elevate the employee experience through recognition &amp; belonging.</a:t>
                      </a:r>
                    </a:p>
                  </a:txBody>
                  <a:tcPr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448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2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Refine Policy &amp; Procedures with employee involvement.</a:t>
                      </a:r>
                    </a:p>
                  </a:txBody>
                  <a:tcPr marT="45714" marB="4571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695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 startAt="3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Enhance employee inclusion processes.</a:t>
                      </a:r>
                    </a:p>
                  </a:txBody>
                  <a:tcPr marT="45714" marB="4571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Training anticipatory service.</a:t>
                      </a:r>
                    </a:p>
                  </a:txBody>
                  <a:tcPr marT="45714" marB="45714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200000"/>
                        </a:lnSpc>
                        <a:buFont typeface="+mj-lt"/>
                        <a:buAutoNum type="arabicPeriod" startAt="2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Create cross training programs.</a:t>
                      </a:r>
                    </a:p>
                  </a:txBody>
                  <a:tcPr marT="45714" marB="457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193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 startAt="3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Create residential orientation training program.</a:t>
                      </a:r>
                    </a:p>
                  </a:txBody>
                  <a:tcPr marT="45714" marB="4571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444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Community &amp; City connection.</a:t>
                      </a:r>
                    </a:p>
                  </a:txBody>
                  <a:tcPr marT="45714" marB="45714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959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2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Resident connection.</a:t>
                      </a:r>
                    </a:p>
                  </a:txBody>
                  <a:tcPr marT="45714" marB="45714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1472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 startAt="3"/>
                      </a:pPr>
                      <a:endParaRPr lang="en-US" sz="800" i="1" dirty="0">
                        <a:solidFill>
                          <a:srgbClr val="FF0000"/>
                        </a:solidFill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 startAt="3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Resident education.</a:t>
                      </a:r>
                    </a:p>
                  </a:txBody>
                  <a:tcPr marT="45714" marB="45714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197538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111842"/>
              </p:ext>
            </p:extLst>
          </p:nvPr>
        </p:nvGraphicFramePr>
        <p:xfrm>
          <a:off x="7703698" y="1313541"/>
          <a:ext cx="4133965" cy="4513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3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3637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Engage employees to vote for Employee of the Quarter.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Develop a recognition program for 3</a:t>
                      </a:r>
                      <a:r>
                        <a:rPr lang="en-US" sz="900" b="0" i="1" baseline="30000" dirty="0">
                          <a:solidFill>
                            <a:schemeClr val="tx1"/>
                          </a:solidFill>
                        </a:rPr>
                        <a:t>rd</a:t>
                      </a: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 party staff.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Learn &amp; celebrate employee cultures by showcasing those cultures in Fog Stop.</a:t>
                      </a:r>
                    </a:p>
                  </a:txBody>
                  <a:tcPr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867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Review current P&amp;Ps with team inclusion</a:t>
                      </a: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new P&amp;Ps with team </a:t>
                      </a: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inclusion</a:t>
                      </a: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and maintain the SFO Yammer page.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Conduct </a:t>
                      </a: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brainstorming sessions </a:t>
                      </a: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to understand what appeals to the employees and adopt ideas twice per year.</a:t>
                      </a:r>
                    </a:p>
                  </a:txBody>
                  <a:tcPr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960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Identify and train on the definition of luxury &amp; lifestyle.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a “Get to know your Resident” interface.</a:t>
                      </a:r>
                    </a:p>
                  </a:txBody>
                  <a:tcPr marT="45714" marB="45714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11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Identify cross training opportunities for employees by position and execute. </a:t>
                      </a:r>
                    </a:p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Review Tools on Residential Portal for training programs.</a:t>
                      </a:r>
                    </a:p>
                  </a:txBody>
                  <a:tcPr marT="45714" marB="45714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134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Teach on the basics of CC&amp;Rs, concentrate on Article VII, Use Restrictions.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Teach the Residential Rules.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Train on de-escalation and conflict resolution.</a:t>
                      </a:r>
                    </a:p>
                  </a:txBody>
                  <a:tcPr marT="45714" marB="45714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871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local connections with caterers/restaurant &amp; retail vendors to coordinate sponsored owner events.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Promote local community events.</a:t>
                      </a:r>
                    </a:p>
                  </a:txBody>
                  <a:tcPr marT="45714" marB="45714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76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seasonal resident lifestyle programming.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Share “Staff Profile” with Residents quarterly.</a:t>
                      </a:r>
                    </a:p>
                  </a:txBody>
                  <a:tcPr marT="45714" marB="45714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291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a monthly “did you know” for all residents.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&amp; educate a sustainability program with employees (Green Team) &amp; resident involvement.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Conduct quarterly resident FS App training sessions.</a:t>
                      </a:r>
                    </a:p>
                  </a:txBody>
                  <a:tcPr marT="45714" marB="45714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183840"/>
                  </a:ext>
                </a:extLst>
              </a:tr>
            </a:tbl>
          </a:graphicData>
        </a:graphic>
      </p:graphicFrame>
      <p:sp>
        <p:nvSpPr>
          <p:cNvPr id="15422" name="TextBox 9"/>
          <p:cNvSpPr txBox="1">
            <a:spLocks noChangeArrowheads="1"/>
          </p:cNvSpPr>
          <p:nvPr/>
        </p:nvSpPr>
        <p:spPr bwMode="auto">
          <a:xfrm>
            <a:off x="1031436" y="865562"/>
            <a:ext cx="873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1" dirty="0">
                <a:latin typeface="Century Gothic" panose="020B0502020202020204" pitchFamily="34" charset="0"/>
              </a:rPr>
              <a:t>V</a:t>
            </a:r>
            <a:r>
              <a:rPr lang="en-US" sz="1800" dirty="0">
                <a:latin typeface="Century Gothic" panose="020B0502020202020204" pitchFamily="34" charset="0"/>
              </a:rPr>
              <a:t>ision</a:t>
            </a:r>
          </a:p>
        </p:txBody>
      </p:sp>
      <p:sp>
        <p:nvSpPr>
          <p:cNvPr id="15423" name="TextBox 15"/>
          <p:cNvSpPr txBox="1">
            <a:spLocks noChangeArrowheads="1"/>
          </p:cNvSpPr>
          <p:nvPr/>
        </p:nvSpPr>
        <p:spPr bwMode="auto">
          <a:xfrm>
            <a:off x="2974559" y="879787"/>
            <a:ext cx="13211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b="1" dirty="0">
                <a:latin typeface="Century Gothic" panose="020B0502020202020204" pitchFamily="34" charset="0"/>
              </a:rPr>
              <a:t>S</a:t>
            </a:r>
            <a:r>
              <a:rPr lang="en-US" sz="1800" dirty="0">
                <a:latin typeface="Century Gothic" panose="020B0502020202020204" pitchFamily="34" charset="0"/>
              </a:rPr>
              <a:t>trategies</a:t>
            </a:r>
          </a:p>
        </p:txBody>
      </p:sp>
      <p:sp>
        <p:nvSpPr>
          <p:cNvPr id="15424" name="TextBox 16"/>
          <p:cNvSpPr txBox="1">
            <a:spLocks noChangeArrowheads="1"/>
          </p:cNvSpPr>
          <p:nvPr/>
        </p:nvSpPr>
        <p:spPr bwMode="auto">
          <a:xfrm>
            <a:off x="4922632" y="873971"/>
            <a:ext cx="2442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b="1" dirty="0">
                <a:latin typeface="Century Gothic" panose="020B0502020202020204" pitchFamily="34" charset="0"/>
              </a:rPr>
              <a:t>P</a:t>
            </a:r>
            <a:r>
              <a:rPr lang="en-US" sz="1800" dirty="0">
                <a:latin typeface="Century Gothic" panose="020B0502020202020204" pitchFamily="34" charset="0"/>
              </a:rPr>
              <a:t>rojects</a:t>
            </a:r>
          </a:p>
        </p:txBody>
      </p:sp>
      <p:sp>
        <p:nvSpPr>
          <p:cNvPr id="15425" name="TextBox 17"/>
          <p:cNvSpPr txBox="1">
            <a:spLocks noChangeArrowheads="1"/>
          </p:cNvSpPr>
          <p:nvPr/>
        </p:nvSpPr>
        <p:spPr bwMode="auto">
          <a:xfrm>
            <a:off x="9283317" y="851578"/>
            <a:ext cx="974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1" dirty="0">
                <a:latin typeface="Century Gothic" panose="020B0502020202020204" pitchFamily="34" charset="0"/>
              </a:rPr>
              <a:t>T</a:t>
            </a:r>
            <a:r>
              <a:rPr lang="en-US" sz="1800" dirty="0">
                <a:latin typeface="Century Gothic" panose="020B0502020202020204" pitchFamily="34" charset="0"/>
              </a:rPr>
              <a:t>asks</a:t>
            </a:r>
          </a:p>
        </p:txBody>
      </p:sp>
    </p:spTree>
    <p:extLst>
      <p:ext uri="{BB962C8B-B14F-4D97-AF65-F5344CB8AC3E}">
        <p14:creationId xmlns:p14="http://schemas.microsoft.com/office/powerpoint/2010/main" val="2699172886"/>
      </p:ext>
    </p:extLst>
  </p:cSld>
  <p:clrMapOvr>
    <a:masterClrMapping/>
  </p:clrMapOvr>
  <p:transition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3"/>
          <p:cNvSpPr>
            <a:spLocks noGrp="1"/>
          </p:cNvSpPr>
          <p:nvPr>
            <p:ph type="title"/>
          </p:nvPr>
        </p:nvSpPr>
        <p:spPr>
          <a:xfrm>
            <a:off x="354335" y="22405"/>
            <a:ext cx="10703705" cy="85156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>
                <a:latin typeface="Century Gothic" panose="020B0502020202020204" pitchFamily="34" charset="0"/>
              </a:rPr>
              <a:t>KPI’s behind the Strategies</a:t>
            </a:r>
            <a:endParaRPr lang="en-US" sz="28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222508"/>
              </p:ext>
            </p:extLst>
          </p:nvPr>
        </p:nvGraphicFramePr>
        <p:xfrm>
          <a:off x="354336" y="1327228"/>
          <a:ext cx="2188841" cy="5100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00391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innovate new experiences of luxury &amp; lifestyle that inspire a deeper connection with the city, our neighbors and family.  Four Seasons Private Residences at 706 Mission, will provide Home Owners intuitive service so experiences become traditions.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921778"/>
              </p:ext>
            </p:extLst>
          </p:nvPr>
        </p:nvGraphicFramePr>
        <p:xfrm>
          <a:off x="2584398" y="1338927"/>
          <a:ext cx="2188841" cy="5100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9957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en-US" sz="1000" b="0" i="1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endParaRPr lang="en-US" sz="1400" b="0" i="1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400" b="0" i="1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Expand our employee experience of diversity, inclusion, and belonging (DIB)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71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6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Enhance training &amp; create engaging development programs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33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endParaRPr lang="en-US" sz="10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endParaRPr lang="en-US" sz="10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Resident experience</a:t>
                      </a:r>
                      <a:endParaRPr lang="en-US" sz="1400" b="0" i="1" dirty="0">
                        <a:solidFill>
                          <a:srgbClr val="C0C0C0"/>
                        </a:solidFill>
                      </a:endParaRPr>
                    </a:p>
                    <a:p>
                      <a:endParaRPr lang="en-US" sz="1400" b="0" i="1" dirty="0">
                        <a:solidFill>
                          <a:srgbClr val="C0C0C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343782"/>
              </p:ext>
            </p:extLst>
          </p:nvPr>
        </p:nvGraphicFramePr>
        <p:xfrm>
          <a:off x="4814460" y="1335635"/>
          <a:ext cx="2848017" cy="5112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896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400" b="0" i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Elevate the employee experience through recognition &amp; belonging.</a:t>
                      </a:r>
                    </a:p>
                  </a:txBody>
                  <a:tcPr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43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2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Refine Policy &amp; Procedures with employee involvement.</a:t>
                      </a:r>
                    </a:p>
                  </a:txBody>
                  <a:tcPr marT="45714" marB="4571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552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 startAt="3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Enhance employee inclusion processes.</a:t>
                      </a:r>
                    </a:p>
                  </a:txBody>
                  <a:tcPr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405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Training anticipatory service.</a:t>
                      </a:r>
                    </a:p>
                  </a:txBody>
                  <a:tcPr marT="45714" marB="45714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989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200000"/>
                        </a:lnSpc>
                        <a:buFont typeface="+mj-lt"/>
                        <a:buAutoNum type="arabicPeriod" startAt="2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Create cross training programs.</a:t>
                      </a:r>
                    </a:p>
                  </a:txBody>
                  <a:tcPr marT="45714" marB="4571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514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 startAt="3"/>
                      </a:pPr>
                      <a:endParaRPr lang="en-US" sz="800" i="1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 startAt="3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Create residential orientation training program.</a:t>
                      </a:r>
                    </a:p>
                  </a:txBody>
                  <a:tcPr marT="45714" marB="4571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719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800" i="1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Community &amp; City connection.</a:t>
                      </a:r>
                    </a:p>
                  </a:txBody>
                  <a:tcPr marT="45714" marB="45714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384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2"/>
                      </a:pPr>
                      <a:endParaRPr lang="en-US" sz="800" i="1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Font typeface="+mj-lt"/>
                        <a:buAutoNum type="arabicPeriod" startAt="2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Resident connection.</a:t>
                      </a:r>
                    </a:p>
                  </a:txBody>
                  <a:tcPr marT="45714" marB="45714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2289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 startAt="3"/>
                      </a:pPr>
                      <a:endParaRPr lang="en-US" sz="800" i="1" dirty="0">
                        <a:solidFill>
                          <a:srgbClr val="FF0000"/>
                        </a:solidFill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 startAt="3"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Resident education.</a:t>
                      </a:r>
                    </a:p>
                  </a:txBody>
                  <a:tcPr marT="45714" marB="45714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197538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020831"/>
              </p:ext>
            </p:extLst>
          </p:nvPr>
        </p:nvGraphicFramePr>
        <p:xfrm>
          <a:off x="7703698" y="1327227"/>
          <a:ext cx="4133965" cy="510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3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8032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Employee Pulse Survey Score minimum: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I feel sense of belonging at Four Seasons – 85%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I feel comfortable being myself at work – 85%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89%+ employee engagement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Total Survey score - 84.0%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b="0" i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Create and maintain the SFO Yammer page, provide monthly updates.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b="0" i="1" dirty="0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b="0" i="1" dirty="0">
                          <a:solidFill>
                            <a:schemeClr val="tx1"/>
                          </a:solidFill>
                        </a:rPr>
                        <a:t>Conduct brainstorming sessions to understand what appeals to the employees and adopt ideas twice per year.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b="0" i="1" dirty="0">
                        <a:solidFill>
                          <a:srgbClr val="FF0000"/>
                        </a:solidFill>
                      </a:endParaRPr>
                    </a:p>
                  </a:txBody>
                  <a:tcPr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251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a “Get to know your Resident” interface.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Crosstrain 1 additional employee by end of 2022.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Teach on the basics of CC&amp;Rs, concentrate on Article VII, Use Restrictions &amp; Residential Rules. Create class/guide, host twice in a year, employees sign off once complete.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90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Train on de-escalation and conflict resolution, concentrate on how to present a la carte options. Create P&amp;Ps and guides and host discussions twice per year with all staff.</a:t>
                      </a:r>
                    </a:p>
                  </a:txBody>
                  <a:tcPr marT="45714" marB="45714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984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Organize at least 4 on-property Resident lifestyle experiences.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90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Share “Staff Profile” with Residents quarterly.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90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a monthly “did you know” for all Residents.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Create &amp; educate a sustainability program with employees (Green Team) &amp; resident involvement.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i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Conduct quarterly Resident FS App training sessions.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i="1" dirty="0">
                        <a:solidFill>
                          <a:srgbClr val="FF0000"/>
                        </a:solidFill>
                      </a:endParaRPr>
                    </a:p>
                  </a:txBody>
                  <a:tcPr marT="45714" marB="45714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422" name="TextBox 9"/>
          <p:cNvSpPr txBox="1">
            <a:spLocks noChangeArrowheads="1"/>
          </p:cNvSpPr>
          <p:nvPr/>
        </p:nvSpPr>
        <p:spPr bwMode="auto">
          <a:xfrm>
            <a:off x="1031436" y="865562"/>
            <a:ext cx="873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dirty="0">
                <a:latin typeface="Century Gothic" panose="020B0502020202020204" pitchFamily="34" charset="0"/>
              </a:rPr>
              <a:t>V</a:t>
            </a:r>
            <a:r>
              <a:rPr lang="en-US" sz="1800" dirty="0">
                <a:latin typeface="Century Gothic" panose="020B0502020202020204" pitchFamily="34" charset="0"/>
              </a:rPr>
              <a:t>ision</a:t>
            </a:r>
          </a:p>
        </p:txBody>
      </p:sp>
      <p:sp>
        <p:nvSpPr>
          <p:cNvPr id="15423" name="TextBox 15"/>
          <p:cNvSpPr txBox="1">
            <a:spLocks noChangeArrowheads="1"/>
          </p:cNvSpPr>
          <p:nvPr/>
        </p:nvSpPr>
        <p:spPr bwMode="auto">
          <a:xfrm>
            <a:off x="2974559" y="879787"/>
            <a:ext cx="13211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latin typeface="Century Gothic" panose="020B0502020202020204" pitchFamily="34" charset="0"/>
              </a:rPr>
              <a:t>S</a:t>
            </a:r>
            <a:r>
              <a:rPr lang="en-US" sz="1800" dirty="0">
                <a:latin typeface="Century Gothic" panose="020B0502020202020204" pitchFamily="34" charset="0"/>
              </a:rPr>
              <a:t>trategies</a:t>
            </a:r>
          </a:p>
        </p:txBody>
      </p:sp>
      <p:sp>
        <p:nvSpPr>
          <p:cNvPr id="15424" name="TextBox 16"/>
          <p:cNvSpPr txBox="1">
            <a:spLocks noChangeArrowheads="1"/>
          </p:cNvSpPr>
          <p:nvPr/>
        </p:nvSpPr>
        <p:spPr bwMode="auto">
          <a:xfrm>
            <a:off x="4922632" y="873971"/>
            <a:ext cx="2442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latin typeface="Century Gothic" panose="020B0502020202020204" pitchFamily="34" charset="0"/>
              </a:rPr>
              <a:t>P</a:t>
            </a:r>
            <a:r>
              <a:rPr lang="en-US" sz="1800" dirty="0">
                <a:latin typeface="Century Gothic" panose="020B0502020202020204" pitchFamily="34" charset="0"/>
              </a:rPr>
              <a:t>rojects</a:t>
            </a:r>
          </a:p>
        </p:txBody>
      </p:sp>
      <p:sp>
        <p:nvSpPr>
          <p:cNvPr id="15425" name="TextBox 17"/>
          <p:cNvSpPr txBox="1">
            <a:spLocks noChangeArrowheads="1"/>
          </p:cNvSpPr>
          <p:nvPr/>
        </p:nvSpPr>
        <p:spPr bwMode="auto">
          <a:xfrm>
            <a:off x="8413882" y="957895"/>
            <a:ext cx="27604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b="1" dirty="0">
                <a:latin typeface="Century Gothic" panose="020B0502020202020204" pitchFamily="34" charset="0"/>
              </a:rPr>
              <a:t>KPIs (</a:t>
            </a:r>
            <a:r>
              <a:rPr lang="en-US" sz="1800" b="1" dirty="0" err="1">
                <a:latin typeface="Century Gothic" panose="020B0502020202020204" pitchFamily="34" charset="0"/>
              </a:rPr>
              <a:t>WorkDay</a:t>
            </a:r>
            <a:r>
              <a:rPr lang="en-US" sz="1800" b="1" dirty="0">
                <a:latin typeface="Century Gothic" panose="020B0502020202020204" pitchFamily="34" charset="0"/>
              </a:rPr>
              <a:t> Input)</a:t>
            </a:r>
            <a:endParaRPr lang="en-US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489259"/>
      </p:ext>
    </p:extLst>
  </p:cSld>
  <p:clrMapOvr>
    <a:masterClrMapping/>
  </p:clrMapOvr>
  <p:transition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5" name="Rectangle 2"/>
          <p:cNvSpPr>
            <a:spLocks noGrp="1" noChangeArrowheads="1"/>
          </p:cNvSpPr>
          <p:nvPr>
            <p:ph type="title"/>
          </p:nvPr>
        </p:nvSpPr>
        <p:spPr>
          <a:xfrm>
            <a:off x="924716" y="261303"/>
            <a:ext cx="10797892" cy="1049337"/>
          </a:xfrm>
        </p:spPr>
        <p:txBody>
          <a:bodyPr>
            <a:normAutofit/>
          </a:bodyPr>
          <a:lstStyle/>
          <a:p>
            <a:r>
              <a:rPr lang="en-US" sz="2000" u="sng" dirty="0">
                <a:latin typeface="Century Gothic" panose="020B0502020202020204" pitchFamily="34" charset="0"/>
              </a:rPr>
              <a:t>Create a cadence of accountability</a:t>
            </a:r>
          </a:p>
        </p:txBody>
      </p:sp>
      <p:sp>
        <p:nvSpPr>
          <p:cNvPr id="615426" name="Rectangle 3"/>
          <p:cNvSpPr>
            <a:spLocks noGrp="1" noChangeArrowheads="1"/>
          </p:cNvSpPr>
          <p:nvPr>
            <p:ph idx="1"/>
          </p:nvPr>
        </p:nvSpPr>
        <p:spPr>
          <a:xfrm>
            <a:off x="877824" y="1310640"/>
            <a:ext cx="10844784" cy="56388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entury Gothic" panose="020B0502020202020204" pitchFamily="34" charset="0"/>
              </a:rPr>
              <a:t>Focus on the wildly important.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Act on the tasks for each project. </a:t>
            </a:r>
          </a:p>
          <a:p>
            <a:pPr lvl="1"/>
            <a:r>
              <a:rPr lang="en-US" sz="1800" dirty="0">
                <a:latin typeface="Century Gothic" panose="020B0502020202020204" pitchFamily="34" charset="0"/>
              </a:rPr>
              <a:t>20% of activities produce eighty percent of results. Activities that are identified and codified into individual actions and then tracked fanatically </a:t>
            </a:r>
            <a:r>
              <a:rPr lang="mr-IN" sz="1800" dirty="0">
                <a:latin typeface="Century Gothic" panose="020B0502020202020204" pitchFamily="34" charset="0"/>
              </a:rPr>
              <a:t>…</a:t>
            </a:r>
            <a:r>
              <a:rPr lang="en-US" sz="1800" dirty="0">
                <a:latin typeface="Century Gothic" panose="020B0502020202020204" pitchFamily="34" charset="0"/>
              </a:rPr>
              <a:t>  will create results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 Keep a compelling scoreboard.</a:t>
            </a:r>
          </a:p>
          <a:p>
            <a:pPr lvl="1"/>
            <a:r>
              <a:rPr lang="en-US" sz="1800" dirty="0">
                <a:latin typeface="Century Gothic" panose="020B0502020202020204" pitchFamily="34" charset="0"/>
              </a:rPr>
              <a:t>People and teams play differently when they are keeping score, and the right kind of scoreboards motivate the players to win. What will our scoreboard look like?</a:t>
            </a:r>
          </a:p>
          <a:p>
            <a:pPr lvl="2"/>
            <a:r>
              <a:rPr lang="en-US" sz="1800" dirty="0">
                <a:latin typeface="Century Gothic" panose="020B0502020202020204" pitchFamily="34" charset="0"/>
              </a:rPr>
              <a:t>The team need to design it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Create a cadence of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94857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47CC794813E498F4E0E4373AD9880" ma:contentTypeVersion="14" ma:contentTypeDescription="Create a new document." ma:contentTypeScope="" ma:versionID="1a79516fa2aaf447a3f17ee2743d180d">
  <xsd:schema xmlns:xsd="http://www.w3.org/2001/XMLSchema" xmlns:xs="http://www.w3.org/2001/XMLSchema" xmlns:p="http://schemas.microsoft.com/office/2006/metadata/properties" xmlns:ns3="77842aba-bda6-4832-96cd-e75cb5324294" xmlns:ns4="ed2f2222-2bff-489f-89bb-9539c67e7b9c" targetNamespace="http://schemas.microsoft.com/office/2006/metadata/properties" ma:root="true" ma:fieldsID="ddd4cfaa7dcf524a87c26a222b86785f" ns3:_="" ns4:_="">
    <xsd:import namespace="77842aba-bda6-4832-96cd-e75cb5324294"/>
    <xsd:import namespace="ed2f2222-2bff-489f-89bb-9539c67e7b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842aba-bda6-4832-96cd-e75cb53242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f2222-2bff-489f-89bb-9539c67e7b9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C6A58D-5138-4F87-87DB-2755C29F4C5C}">
  <ds:schemaRefs>
    <ds:schemaRef ds:uri="http://www.w3.org/XML/1998/namespace"/>
    <ds:schemaRef ds:uri="http://purl.org/dc/dcmitype/"/>
    <ds:schemaRef ds:uri="http://purl.org/dc/terms/"/>
    <ds:schemaRef ds:uri="http://schemas.openxmlformats.org/package/2006/metadata/core-properties"/>
    <ds:schemaRef ds:uri="ed2f2222-2bff-489f-89bb-9539c67e7b9c"/>
    <ds:schemaRef ds:uri="http://schemas.microsoft.com/office/2006/documentManagement/types"/>
    <ds:schemaRef ds:uri="77842aba-bda6-4832-96cd-e75cb5324294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3307AA8-C226-4D53-BA2B-E5F6DA7B3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DD4678-FC2C-4044-B53E-F9D5B75930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842aba-bda6-4832-96cd-e75cb5324294"/>
    <ds:schemaRef ds:uri="ed2f2222-2bff-489f-89bb-9539c67e7b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2121</TotalTime>
  <Words>777</Words>
  <Application>Microsoft Office PowerPoint</Application>
  <PresentationFormat>Widescreen</PresentationFormat>
  <Paragraphs>125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ＭＳ Ｐゴシック</vt:lpstr>
      <vt:lpstr>Arial</vt:lpstr>
      <vt:lpstr>Calibri</vt:lpstr>
      <vt:lpstr>Calibri Light</vt:lpstr>
      <vt:lpstr>Century Gothic</vt:lpstr>
      <vt:lpstr>Mangal</vt:lpstr>
      <vt:lpstr>Times New Roman</vt:lpstr>
      <vt:lpstr>Office Theme</vt:lpstr>
      <vt:lpstr>Four Seasons Private Residences at 706 Mission 2022 VSPT Strategy</vt:lpstr>
      <vt:lpstr>KPI’s behind the Strategies</vt:lpstr>
      <vt:lpstr>Create a cadence of accountability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VSPT Strategy Template</dc:title>
  <dc:creator>Jose Soriano</dc:creator>
  <cp:lastModifiedBy>Matthew Hoffman</cp:lastModifiedBy>
  <cp:revision>95</cp:revision>
  <cp:lastPrinted>2022-03-08T23:25:39Z</cp:lastPrinted>
  <dcterms:created xsi:type="dcterms:W3CDTF">2019-11-03T23:32:15Z</dcterms:created>
  <dcterms:modified xsi:type="dcterms:W3CDTF">2022-03-08T23:28:03Z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0x010100E0047CC794813E498F4E0E4373AD9880</vt:lpwstr>
  </property>
</Properties>
</file>